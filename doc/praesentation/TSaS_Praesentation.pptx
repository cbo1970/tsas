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8BE0B0"/>
                </a:solidFill>
                <a:latin typeface="Calibri"/>
              </a:rPr>
              <a:t>TENNIS SCORE AND STATISTIC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TSaS – Architektur,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Deployment &amp; KI-Erkenntnisse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>
                <a:solidFill>
                  <a:srgbClr val="B9C2CC"/>
                </a:solidFill>
                <a:latin typeface="Calibri"/>
              </a:rPr>
              <a:t>Web-Applikation zur Tennismatch-Dokumentation und Statistik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029200"/>
            <a:ext cx="2331720" cy="502920"/>
          </a:xfrm>
          <a:prstGeom prst="roundRect">
            <a:avLst>
              <a:gd name="adj" fmla="val 18000"/>
            </a:avLst>
          </a:prstGeom>
          <a:solidFill>
            <a:srgbClr val="2A3745"/>
          </a:solidFill>
          <a:ln w="9525">
            <a:solidFill>
              <a:srgbClr val="3D4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Spring Boot 4 · Java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5029200"/>
            <a:ext cx="2331720" cy="502920"/>
          </a:xfrm>
          <a:prstGeom prst="roundRect">
            <a:avLst>
              <a:gd name="adj" fmla="val 18000"/>
            </a:avLst>
          </a:prstGeom>
          <a:solidFill>
            <a:srgbClr val="2A3745"/>
          </a:solidFill>
          <a:ln w="9525">
            <a:solidFill>
              <a:srgbClr val="3D4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Angular · Keycloak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5029200"/>
            <a:ext cx="2331720" cy="502920"/>
          </a:xfrm>
          <a:prstGeom prst="roundRect">
            <a:avLst>
              <a:gd name="adj" fmla="val 18000"/>
            </a:avLst>
          </a:prstGeom>
          <a:solidFill>
            <a:srgbClr val="2A3745"/>
          </a:solidFill>
          <a:ln w="9525">
            <a:solidFill>
              <a:srgbClr val="3D4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PostgreSQL · Docker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5029200"/>
            <a:ext cx="2331720" cy="502920"/>
          </a:xfrm>
          <a:prstGeom prst="roundRect">
            <a:avLst>
              <a:gd name="adj" fmla="val 18000"/>
            </a:avLst>
          </a:prstGeom>
          <a:solidFill>
            <a:srgbClr val="2A3745"/>
          </a:solidFill>
          <a:ln w="9525">
            <a:solidFill>
              <a:srgbClr val="3D4C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Calibri"/>
              </a:rPr>
              <a:t>Spring AI · OpenAI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035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8A96A2"/>
                </a:solidFill>
                <a:latin typeface="Calibri"/>
              </a:rPr>
              <a:t>Clean Architecture · Modularer Monolith · arc42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6B3C"/>
                </a:solidFill>
                <a:latin typeface="Calibri"/>
              </a:rPr>
              <a:t>PROJEKT-ÜBERBLICK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232E"/>
                </a:solidFill>
                <a:latin typeface="Calibri"/>
              </a:rPr>
              <a:t>Was ist TSaS?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6400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1A232E"/>
                </a:solidFill>
                <a:latin typeface="Calibri"/>
              </a:rPr>
              <a:t>Coaches und Eltern dokumentieren Tennismatches </a:t>
            </a:r>
            <a:r>
              <a:rPr sz="1500" b="1">
                <a:solidFill>
                  <a:srgbClr val="146B3C"/>
                </a:solidFill>
                <a:latin typeface="Calibri"/>
              </a:rPr>
              <a:t>Punkt für Punkt</a:t>
            </a:r>
            <a:r>
              <a:rPr sz="1500" b="0">
                <a:solidFill>
                  <a:srgbClr val="1A232E"/>
                </a:solidFill>
                <a:latin typeface="Calibri"/>
              </a:rPr>
              <a:t> mit festen Attributen (Winner, Ace, Doppelfehler, Fehlertypen) und erzeugen daraus Head-to-Head-Statistiken zur Matchvorbereitung.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0040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91440" cy="2103120"/>
          </a:xfrm>
          <a:prstGeom prst="rect">
            <a:avLst/>
          </a:prstGeom>
          <a:solidFill>
            <a:srgbClr val="14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34015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32E"/>
                </a:solidFill>
                <a:latin typeface="Calibri"/>
              </a:rPr>
              <a:t>Punkterfassung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886200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670"/>
                </a:solidFill>
                <a:latin typeface="Calibri"/>
              </a:rPr>
              <a:t>Punkt-für-Punkt live, ITF-konforme Zählung inkl. Tiebreak &amp; Einstand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0712" y="320040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0712" y="3200400"/>
            <a:ext cx="91440" cy="210312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6744" y="34015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32E"/>
                </a:solidFill>
                <a:latin typeface="Calibri"/>
              </a:rPr>
              <a:t>Statistiken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3886200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670"/>
                </a:solidFill>
                <a:latin typeface="Calibri"/>
              </a:rPr>
              <a:t>Head-to-Head, Winner%, Serve%, Aces, Unforced Errors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320040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3200400"/>
            <a:ext cx="91440" cy="210312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34015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32E"/>
                </a:solidFill>
                <a:latin typeface="Calibri"/>
              </a:rPr>
              <a:t>KI-Analyse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3886200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670"/>
                </a:solidFill>
                <a:latin typeface="Calibri"/>
              </a:rPr>
              <a:t>Taktisches Postmortem nach Match-Ende (V1.x)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34856" y="320040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34856" y="3200400"/>
            <a:ext cx="91440" cy="2103120"/>
          </a:xfrm>
          <a:prstGeom prst="rect">
            <a:avLst/>
          </a:prstGeom>
          <a:solidFill>
            <a:srgbClr val="B7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90888" y="34015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A232E"/>
                </a:solidFill>
                <a:latin typeface="Calibri"/>
              </a:rPr>
              <a:t>Auth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3886200"/>
            <a:ext cx="2286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B6670"/>
                </a:solidFill>
                <a:latin typeface="Calibri"/>
              </a:rPr>
              <a:t>Keycloak OAuth2 / OIDC mit PKCE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0" y="1554480"/>
            <a:ext cx="4389120" cy="1417320"/>
          </a:xfrm>
          <a:prstGeom prst="roundRect">
            <a:avLst>
              <a:gd name="adj" fmla="val 6000"/>
            </a:avLst>
          </a:prstGeom>
          <a:solidFill>
            <a:srgbClr val="1A232E"/>
          </a:solidFill>
          <a:ln>
            <a:noFill/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1755648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8BE0B0"/>
                </a:solidFill>
                <a:latin typeface="Calibri"/>
              </a:rPr>
              <a:t>TECH-STACK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2057400"/>
            <a:ext cx="3931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Backend  </a:t>
            </a:r>
            <a:r>
              <a:rPr sz="1250" b="0">
                <a:solidFill>
                  <a:srgbClr val="C4CDD6"/>
                </a:solidFill>
                <a:latin typeface="Calibri"/>
              </a:rPr>
              <a:t>Spring Boot 4 · Java 25 · Gradle Multi-Module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Frontend  </a:t>
            </a:r>
            <a:r>
              <a:rPr sz="1250" b="0">
                <a:solidFill>
                  <a:srgbClr val="C4CDD6"/>
                </a:solidFill>
                <a:latin typeface="Calibri"/>
              </a:rPr>
              <a:t>Angular · Material · ngx-charts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Calibri"/>
              </a:rPr>
              <a:t>Data/Sec  </a:t>
            </a:r>
            <a:r>
              <a:rPr sz="1250" b="0">
                <a:solidFill>
                  <a:srgbClr val="C4CDD6"/>
                </a:solidFill>
                <a:latin typeface="Calibri"/>
              </a:rPr>
              <a:t>PostgreSQL · Keycloak ·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6B3C"/>
                </a:solidFill>
                <a:latin typeface="Calibri"/>
              </a:rPr>
              <a:t>SOFTWARE-ARCHITEKTUR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232E"/>
                </a:solidFill>
                <a:latin typeface="Calibri"/>
              </a:rPr>
              <a:t>Clean Architecture &amp; Modularer Monolith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852160" cy="4206240"/>
          </a:xfrm>
          <a:prstGeom prst="roundRect">
            <a:avLst>
              <a:gd name="adj" fmla="val 4000"/>
            </a:avLst>
          </a:prstGeom>
          <a:solidFill>
            <a:srgbClr val="E3EAF0"/>
          </a:solidFill>
          <a:ln w="9525">
            <a:solidFill>
              <a:srgbClr val="C0C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80160" y="2103120"/>
            <a:ext cx="4572000" cy="3383280"/>
          </a:xfrm>
          <a:prstGeom prst="roundRect">
            <a:avLst>
              <a:gd name="adj" fmla="val 4000"/>
            </a:avLst>
          </a:prstGeom>
          <a:solidFill>
            <a:srgbClr val="CFE8DB"/>
          </a:solidFill>
          <a:ln w="9525">
            <a:solidFill>
              <a:srgbClr val="C0C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65960" y="2560320"/>
            <a:ext cx="3200400" cy="2468880"/>
          </a:xfrm>
          <a:prstGeom prst="roundRect">
            <a:avLst>
              <a:gd name="adj" fmla="val 4000"/>
            </a:avLst>
          </a:prstGeom>
          <a:solidFill>
            <a:srgbClr val="1B9E57"/>
          </a:solidFill>
          <a:ln w="9525">
            <a:solidFill>
              <a:srgbClr val="C0CB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01368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32E"/>
                </a:solidFill>
                <a:latin typeface="Calibri"/>
              </a:rPr>
              <a:t>Infrastructure  ·  Web (REST), Persistence (JPA),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12848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32E"/>
                </a:solidFill>
                <a:latin typeface="Calibri"/>
              </a:rPr>
              <a:t>Application  ·  Ports (in/out) + Use-Case-Services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670048"/>
            <a:ext cx="2834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5852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6670"/>
                </a:solidFill>
                <a:latin typeface="Calibri"/>
              </a:rPr>
              <a:t>Abhängigkeiten zeigen stets nach innen </a:t>
            </a:r>
            <a:r>
              <a:rPr sz="1200" b="0">
                <a:solidFill>
                  <a:srgbClr val="5B6670"/>
                </a:solidFill>
                <a:latin typeface="Calibri"/>
              </a:rPr>
              <a:t>→ Domain ist framework-frei (Ports &amp; Adapters)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6459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46B3C"/>
                </a:solidFill>
                <a:latin typeface="Calibri"/>
              </a:rPr>
              <a:t>FACHLICHE MODULE (GRADLE MULTI-MODULE)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011680"/>
            <a:ext cx="473659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59168" y="2212848"/>
            <a:ext cx="146304" cy="146304"/>
          </a:xfrm>
          <a:prstGeom prst="ellipse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066544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32E"/>
                </a:solidFill>
                <a:latin typeface="Calibri"/>
              </a:rPr>
              <a:t>player-module   </a:t>
            </a:r>
            <a:r>
              <a:rPr sz="1100" b="0">
                <a:solidFill>
                  <a:srgbClr val="5B6670"/>
                </a:solidFill>
                <a:latin typeface="Calibri"/>
              </a:rPr>
              <a:t>Spielerprofile · CRUD &amp; Suche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2670048"/>
            <a:ext cx="473659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2871216"/>
            <a:ext cx="146304" cy="146304"/>
          </a:xfrm>
          <a:prstGeom prst="ellipse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2724912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32E"/>
                </a:solidFill>
                <a:latin typeface="Calibri"/>
              </a:rPr>
              <a:t>match-module   </a:t>
            </a:r>
            <a:r>
              <a:rPr sz="1100" b="0">
                <a:solidFill>
                  <a:srgbClr val="5B6670"/>
                </a:solidFill>
                <a:latin typeface="Calibri"/>
              </a:rPr>
              <a:t>Matches, Sets &amp; Scoring (Zählregeln, Punkterfassung)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3328416"/>
            <a:ext cx="473659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59168" y="3529584"/>
            <a:ext cx="146304" cy="146304"/>
          </a:xfrm>
          <a:prstGeom prst="ellipse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3383280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32E"/>
                </a:solidFill>
                <a:latin typeface="Calibri"/>
              </a:rPr>
              <a:t>statistics-module   </a:t>
            </a:r>
            <a:r>
              <a:rPr sz="1100" b="0">
                <a:solidFill>
                  <a:srgbClr val="5B6670"/>
                </a:solidFill>
                <a:latin typeface="Calibri"/>
              </a:rPr>
              <a:t>On-the-fly Stats: H2H, Winner%, Serve%, Aces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3986784"/>
            <a:ext cx="473659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59168" y="4187952"/>
            <a:ext cx="146304" cy="146304"/>
          </a:xfrm>
          <a:prstGeom prst="ellipse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4041648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32E"/>
                </a:solidFill>
                <a:latin typeface="Calibri"/>
              </a:rPr>
              <a:t>ai-module   </a:t>
            </a:r>
            <a:r>
              <a:rPr sz="1100" b="0">
                <a:solidFill>
                  <a:srgbClr val="5B6670"/>
                </a:solidFill>
                <a:latin typeface="Calibri"/>
              </a:rPr>
              <a:t>KI-Match-Analyse über LlmClientPort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4645152"/>
            <a:ext cx="473659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059168" y="4846320"/>
            <a:ext cx="146304" cy="146304"/>
          </a:xfrm>
          <a:prstGeom prst="ellipse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60920" y="4700016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32E"/>
                </a:solidFill>
                <a:latin typeface="Calibri"/>
              </a:rPr>
              <a:t>auth-module   </a:t>
            </a:r>
            <a:r>
              <a:rPr sz="1100" b="0">
                <a:solidFill>
                  <a:srgbClr val="5B6670"/>
                </a:solidFill>
                <a:latin typeface="Calibri"/>
              </a:rPr>
              <a:t>Keycloak: Token-Validierung &amp; Rollen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03720" y="5303520"/>
            <a:ext cx="473659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3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59168" y="5504688"/>
            <a:ext cx="146304" cy="146304"/>
          </a:xfrm>
          <a:prstGeom prst="ellipse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5358384"/>
            <a:ext cx="4206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232E"/>
                </a:solidFill>
                <a:latin typeface="Calibri"/>
              </a:rPr>
              <a:t>common-module   </a:t>
            </a:r>
            <a:r>
              <a:rPr sz="1100" b="0">
                <a:solidFill>
                  <a:srgbClr val="5B6670"/>
                </a:solidFill>
                <a:latin typeface="Calibri"/>
              </a:rPr>
              <a:t>Shared Kernel: DTOs, Exceptions, Config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6B3C"/>
                </a:solidFill>
                <a:latin typeface="Calibri"/>
              </a:rPr>
              <a:t>SYSTEM-ARCHITEKTUR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232E"/>
                </a:solidFill>
                <a:latin typeface="Calibri"/>
              </a:rPr>
              <a:t>Whitebox-Gesamtsystem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2468880" cy="1920240"/>
          </a:xfrm>
          <a:prstGeom prst="roundRect">
            <a:avLst>
              <a:gd name="adj" fmla="val 5000"/>
            </a:avLst>
          </a:prstGeom>
          <a:solidFill>
            <a:srgbClr val="C8E6C9"/>
          </a:solidFill>
          <a:ln w="19050">
            <a:solidFill>
              <a:srgbClr val="146B3C"/>
            </a:solidFill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1284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232E"/>
                </a:solidFill>
                <a:latin typeface="Calibri"/>
              </a:rPr>
              <a:t>Angular SPA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1031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32E"/>
                </a:solidFill>
                <a:latin typeface="Calibri"/>
              </a:rPr>
              <a:t>• touch-optimierte UI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32E"/>
                </a:solidFill>
                <a:latin typeface="Calibri"/>
              </a:rPr>
              <a:t>• REST-Client (Bearer)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1A232E"/>
                </a:solidFill>
                <a:latin typeface="Calibri"/>
              </a:rPr>
              <a:t>• OAuth2 PKCE-Flow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691640"/>
            <a:ext cx="5212080" cy="4114800"/>
          </a:xfrm>
          <a:prstGeom prst="roundRect">
            <a:avLst>
              <a:gd name="adj" fmla="val 5000"/>
            </a:avLst>
          </a:prstGeom>
          <a:solidFill>
            <a:srgbClr val="BBDEFB"/>
          </a:solidFill>
          <a:ln w="19050">
            <a:solidFill>
              <a:srgbClr val="1565C0"/>
            </a:solidFill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8013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232E"/>
                </a:solidFill>
                <a:latin typeface="Calibri"/>
              </a:rPr>
              <a:t>Spring Boot Backend (Modularer Monolith)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2286000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232E"/>
                </a:solidFill>
                <a:latin typeface="Calibri"/>
              </a:rPr>
              <a:t>player-module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232E"/>
                </a:solidFill>
                <a:latin typeface="Calibri"/>
              </a:rPr>
              <a:t>match + scoring-module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2999232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232E"/>
                </a:solidFill>
                <a:latin typeface="Calibri"/>
              </a:rPr>
              <a:t>statistics-module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999232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232E"/>
                </a:solidFill>
                <a:latin typeface="Calibri"/>
              </a:rPr>
              <a:t>ai-module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1880" y="3712464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232E"/>
                </a:solidFill>
                <a:latin typeface="Calibri"/>
              </a:rPr>
              <a:t>auth-module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712464"/>
            <a:ext cx="233172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A232E"/>
                </a:solidFill>
                <a:latin typeface="Calibri"/>
              </a:rPr>
              <a:t>common-module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07492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0D477A"/>
                </a:solidFill>
                <a:latin typeface="Calibri"/>
              </a:rPr>
              <a:t>REST /api/*  ·  Use-Case-Services über Ports  ·  synchrone Modulaufrufe via Interfaces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69164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3C4"/>
          </a:solidFill>
          <a:ln w="19050">
            <a:solidFill>
              <a:srgbClr val="B78600"/>
            </a:solidFill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801368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232E"/>
                </a:solidFill>
                <a:latin typeface="Calibri"/>
              </a:rP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33172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2E"/>
                </a:solidFill>
                <a:latin typeface="Calibri"/>
              </a:rPr>
              <a:t>Player · Match · Point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2E"/>
                </a:solidFill>
                <a:latin typeface="Calibri"/>
              </a:rPr>
              <a:t>Current_Score · Stats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2E"/>
                </a:solidFill>
                <a:latin typeface="Calibri"/>
              </a:rPr>
              <a:t>Match_Analysis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3749039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E0B2"/>
          </a:solidFill>
          <a:ln w="19050">
            <a:solidFill>
              <a:srgbClr val="E65100"/>
            </a:solidFill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3858767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A232E"/>
                </a:solidFill>
                <a:latin typeface="Calibri"/>
              </a:rPr>
              <a:t>Keycloak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4389120"/>
            <a:ext cx="2194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2E"/>
                </a:solidFill>
                <a:latin typeface="Calibri"/>
              </a:rPr>
              <a:t>OIDC / OAuth2 Issuer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2E"/>
                </a:solidFill>
                <a:latin typeface="Calibri"/>
              </a:rPr>
              <a:t>Token-Validierung (JWKS)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1A232E"/>
                </a:solidFill>
                <a:latin typeface="Calibri"/>
              </a:rPr>
              <a:t>Google IDP ab V2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29000" y="5989320"/>
            <a:ext cx="5212080" cy="640080"/>
          </a:xfrm>
          <a:prstGeom prst="roundRect">
            <a:avLst>
              <a:gd name="adj" fmla="val 12000"/>
            </a:avLst>
          </a:prstGeom>
          <a:solidFill>
            <a:srgbClr val="1A2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80" y="6053328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LLM-Provider (OpenAI gpt-4o-mini) </a:t>
            </a:r>
            <a:r>
              <a:rPr sz="1100" b="0">
                <a:solidFill>
                  <a:srgbClr val="C4CDD6"/>
                </a:solidFill>
                <a:latin typeface="Calibri"/>
              </a:rPr>
              <a:t>— extern, über LlmClientPort gekapselt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017520" y="3063240"/>
            <a:ext cx="411480" cy="0"/>
          </a:xfrm>
          <a:prstGeom prst="bentConnector3">
            <a:avLst/>
          </a:prstGeom>
          <a:ln w="27940">
            <a:solidFill>
              <a:srgbClr val="1565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641080" y="2606040"/>
            <a:ext cx="457200" cy="0"/>
          </a:xfrm>
          <a:prstGeom prst="bentConnector3">
            <a:avLst/>
          </a:prstGeom>
          <a:ln w="27940">
            <a:solidFill>
              <a:srgbClr val="B78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41080" y="4663440"/>
            <a:ext cx="457200" cy="0"/>
          </a:xfrm>
          <a:prstGeom prst="bentConnector3">
            <a:avLst/>
          </a:prstGeom>
          <a:ln w="27940">
            <a:solidFill>
              <a:srgbClr val="E651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35040" y="5806440"/>
            <a:ext cx="0" cy="182880"/>
          </a:xfrm>
          <a:prstGeom prst="bentConnector3">
            <a:avLst/>
          </a:prstGeom>
          <a:ln w="25400">
            <a:solidFill>
              <a:srgbClr val="1A23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6B3C"/>
                </a:solidFill>
                <a:latin typeface="Calibr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232E"/>
                </a:solidFill>
                <a:latin typeface="Calibri"/>
              </a:rPr>
              <a:t>Verteilungssicht – Docker 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7955279" cy="47548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9AA6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32E"/>
                </a:solidFill>
                <a:latin typeface="Calibri"/>
              </a:rPr>
              <a:t>🖥  Docker Host  ·  docker-compose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8600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C8E6C9"/>
          </a:solidFill>
          <a:ln w="15875">
            <a:solidFill>
              <a:srgbClr val="146B3C"/>
            </a:solidFill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414016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32E"/>
                </a:solidFill>
                <a:latin typeface="Calibri"/>
              </a:rPr>
              <a:t>📦  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81635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670"/>
                </a:solidFill>
                <a:latin typeface="Calibri"/>
              </a:rPr>
              <a:t>Nginx + Angular SPA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670"/>
                </a:solidFill>
                <a:latin typeface="Calibri"/>
              </a:rPr>
              <a:t>proxied /api/ → 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3383280"/>
            <a:ext cx="1554480" cy="347472"/>
          </a:xfrm>
          <a:prstGeom prst="roundRect">
            <a:avLst>
              <a:gd name="adj" fmla="val 18000"/>
            </a:avLst>
          </a:prstGeom>
          <a:solidFill>
            <a:srgbClr val="146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:80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28600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BBDEFB"/>
          </a:solidFill>
          <a:ln w="15875">
            <a:solidFill>
              <a:srgbClr val="1565C0"/>
            </a:solidFill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414016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32E"/>
                </a:solidFill>
                <a:latin typeface="Calibri"/>
              </a:rPr>
              <a:t>📦 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81635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670"/>
                </a:solidFill>
                <a:latin typeface="Calibri"/>
              </a:rPr>
              <a:t>Spring Boot API (Java 25)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670"/>
                </a:solidFill>
                <a:latin typeface="Calibri"/>
              </a:rPr>
              <a:t>nur intern erreichbar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3383280"/>
            <a:ext cx="1554480" cy="347472"/>
          </a:xfrm>
          <a:prstGeom prst="roundRect">
            <a:avLst>
              <a:gd name="adj" fmla="val 18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:8080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5196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 w="15875">
            <a:solidFill>
              <a:srgbClr val="B78600"/>
            </a:solidFill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379976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32E"/>
                </a:solidFill>
                <a:latin typeface="Calibri"/>
              </a:rPr>
              <a:t>📦 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78231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670"/>
                </a:solidFill>
                <a:latin typeface="Calibri"/>
              </a:rPr>
              <a:t>PostgreSQL 16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670"/>
                </a:solidFill>
                <a:latin typeface="Calibri"/>
              </a:rPr>
              <a:t>Volume: postgres-data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5486400"/>
            <a:ext cx="1554480" cy="347472"/>
          </a:xfrm>
          <a:prstGeom prst="roundRect">
            <a:avLst>
              <a:gd name="adj" fmla="val 18000"/>
            </a:avLst>
          </a:prstGeom>
          <a:solidFill>
            <a:srgbClr val="B7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:5432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25196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E0B2"/>
          </a:solidFill>
          <a:ln w="15875">
            <a:solidFill>
              <a:srgbClr val="E65100"/>
            </a:solidFill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379976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232E"/>
                </a:solidFill>
                <a:latin typeface="Calibri"/>
              </a:rPr>
              <a:t>📦  keycloak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78231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670"/>
                </a:solidFill>
                <a:latin typeface="Calibri"/>
              </a:rPr>
              <a:t>Keycloak 26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>
                <a:solidFill>
                  <a:srgbClr val="5B6670"/>
                </a:solidFill>
                <a:latin typeface="Calibri"/>
              </a:rPr>
              <a:t>HTTPS + HTTP (intern)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5486400"/>
            <a:ext cx="1554480" cy="347472"/>
          </a:xfrm>
          <a:prstGeom prst="roundRect">
            <a:avLst>
              <a:gd name="adj" fmla="val 18000"/>
            </a:avLst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:8443 / :18080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2286000"/>
            <a:ext cx="2880360" cy="914400"/>
          </a:xfrm>
          <a:prstGeom prst="roundRect">
            <a:avLst>
              <a:gd name="adj" fmla="val 12000"/>
            </a:avLst>
          </a:prstGeom>
          <a:solidFill>
            <a:srgbClr val="1A232E"/>
          </a:solidFill>
          <a:ln>
            <a:noFill/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0" y="2395728"/>
            <a:ext cx="28803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👤  Browser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C4CDD6"/>
                </a:solidFill>
                <a:latin typeface="Calibri"/>
              </a:rPr>
              <a:t>HTTPS :443 / OAuth2 :8443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5204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46B3C"/>
                </a:solidFill>
                <a:latin typeface="Calibri"/>
              </a:rPr>
              <a:t>VERBINDUNGEN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88620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B9E57"/>
                </a:solidFill>
                <a:latin typeface="Calibri"/>
              </a:rPr>
              <a:t>—  </a:t>
            </a:r>
            <a:r>
              <a:rPr sz="1150" b="1">
                <a:solidFill>
                  <a:srgbClr val="1A232E"/>
                </a:solidFill>
                <a:latin typeface="Calibri"/>
              </a:rPr>
              <a:t>Browser → frontend</a:t>
            </a:r>
            <a:r>
              <a:rPr sz="1150" b="0">
                <a:solidFill>
                  <a:srgbClr val="5B6670"/>
                </a:solidFill>
                <a:latin typeface="Calibri"/>
              </a:rPr>
              <a:t>  HTTPS :443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B9E57"/>
                </a:solidFill>
                <a:latin typeface="Calibri"/>
              </a:rPr>
              <a:t>—  </a:t>
            </a:r>
            <a:r>
              <a:rPr sz="1150" b="1">
                <a:solidFill>
                  <a:srgbClr val="1A232E"/>
                </a:solidFill>
                <a:latin typeface="Calibri"/>
              </a:rPr>
              <a:t>frontend → backend</a:t>
            </a:r>
            <a:r>
              <a:rPr sz="1150" b="0">
                <a:solidFill>
                  <a:srgbClr val="5B6670"/>
                </a:solidFill>
                <a:latin typeface="Calibri"/>
              </a:rPr>
              <a:t>  HTTP-Proxy /api/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B9E57"/>
                </a:solidFill>
                <a:latin typeface="Calibri"/>
              </a:rPr>
              <a:t>—  </a:t>
            </a:r>
            <a:r>
              <a:rPr sz="1150" b="1">
                <a:solidFill>
                  <a:srgbClr val="1A232E"/>
                </a:solidFill>
                <a:latin typeface="Calibri"/>
              </a:rPr>
              <a:t>backend → db</a:t>
            </a:r>
            <a:r>
              <a:rPr sz="1150" b="0">
                <a:solidFill>
                  <a:srgbClr val="5B6670"/>
                </a:solidFill>
                <a:latin typeface="Calibri"/>
              </a:rPr>
              <a:t>  JDBC :5432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B9E57"/>
                </a:solidFill>
                <a:latin typeface="Calibri"/>
              </a:rPr>
              <a:t>—  </a:t>
            </a:r>
            <a:r>
              <a:rPr sz="1150" b="1">
                <a:solidFill>
                  <a:srgbClr val="1A232E"/>
                </a:solidFill>
                <a:latin typeface="Calibri"/>
              </a:rPr>
              <a:t>backend → keycloak</a:t>
            </a:r>
            <a:r>
              <a:rPr sz="1150" b="0">
                <a:solidFill>
                  <a:srgbClr val="5B6670"/>
                </a:solidFill>
                <a:latin typeface="Calibri"/>
              </a:rPr>
              <a:t>  JWKS :18080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>
                <a:solidFill>
                  <a:srgbClr val="1B9E57"/>
                </a:solidFill>
                <a:latin typeface="Calibri"/>
              </a:rPr>
              <a:t>—  </a:t>
            </a:r>
            <a:r>
              <a:rPr sz="1150" b="1">
                <a:solidFill>
                  <a:srgbClr val="1A232E"/>
                </a:solidFill>
                <a:latin typeface="Calibri"/>
              </a:rPr>
              <a:t>Browser → keycloak</a:t>
            </a:r>
            <a:r>
              <a:rPr sz="1150" b="0">
                <a:solidFill>
                  <a:srgbClr val="5B6670"/>
                </a:solidFill>
                <a:latin typeface="Calibri"/>
              </a:rPr>
              <a:t>  OAuth2 PKCE :8443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89120" y="3081528"/>
            <a:ext cx="228600" cy="0"/>
          </a:xfrm>
          <a:prstGeom prst="bentConnector3">
            <a:avLst/>
          </a:prstGeom>
          <a:ln w="25400">
            <a:solidFill>
              <a:srgbClr val="1565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06040" y="3886200"/>
            <a:ext cx="0" cy="365760"/>
          </a:xfrm>
          <a:prstGeom prst="bentConnector3">
            <a:avLst/>
          </a:prstGeom>
          <a:ln w="25400">
            <a:solidFill>
              <a:srgbClr val="B786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183879" y="2743200"/>
            <a:ext cx="594361" cy="182880"/>
          </a:xfrm>
          <a:prstGeom prst="bentConnector3">
            <a:avLst/>
          </a:prstGeom>
          <a:ln w="20320">
            <a:solidFill>
              <a:srgbClr val="1A232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46B3C"/>
                </a:solidFill>
                <a:latin typeface="Calibri"/>
              </a:rPr>
              <a:t>KI-EINSATZ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232E"/>
                </a:solidFill>
                <a:latin typeface="Calibri"/>
              </a:rPr>
              <a:t>Erkenntnisse &amp; wann ich vorsichtig wäre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005840" cy="38100"/>
          </a:xfrm>
          <a:prstGeom prst="rect">
            <a:avLst/>
          </a:prstGeom>
          <a:solidFill>
            <a:srgbClr val="1B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46B3C"/>
                </a:solidFill>
                <a:latin typeface="Calibri"/>
              </a:rPr>
              <a:t>✓  WAS GUT FUNKTIONIERT 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486400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3DAE0"/>
            </a:solidFill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50749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B9E57"/>
                </a:solidFill>
                <a:latin typeface="Calibri"/>
              </a:rPr>
              <a:t>—  </a:t>
            </a:r>
            <a:r>
              <a:rPr sz="1250" b="1">
                <a:solidFill>
                  <a:srgbClr val="1A232E"/>
                </a:solidFill>
                <a:latin typeface="Calibri"/>
              </a:rPr>
              <a:t>Provider-Abstraktion zahlt sich aus.</a:t>
            </a:r>
            <a:r>
              <a:rPr sz="1250" b="0">
                <a:solidFill>
                  <a:srgbClr val="5B6670"/>
                </a:solidFill>
                <a:latin typeface="Calibri"/>
              </a:rPr>
              <a:t> LlmClientPort kapselt das LLM – Wechsel OpenAI→Anthropic/Ollama ohne Eingriff in Use Cases.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B9E57"/>
                </a:solidFill>
                <a:latin typeface="Calibri"/>
              </a:rPr>
              <a:t>—  </a:t>
            </a:r>
            <a:r>
              <a:rPr sz="1250" b="1">
                <a:solidFill>
                  <a:srgbClr val="1A232E"/>
                </a:solidFill>
                <a:latin typeface="Calibri"/>
              </a:rPr>
              <a:t>Fake-Adapter statt echtem Call.</a:t>
            </a:r>
            <a:r>
              <a:rPr sz="1250" b="0">
                <a:solidFill>
                  <a:srgbClr val="5B6670"/>
                </a:solidFill>
                <a:latin typeface="Calibri"/>
              </a:rPr>
              <a:t> FakeLlmClientAdapter liefert deterministische Ergebnisse: Tests &amp; Entwicklung ohne API-Key und ohne Kosten.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B9E57"/>
                </a:solidFill>
                <a:latin typeface="Calibri"/>
              </a:rPr>
              <a:t>—  </a:t>
            </a:r>
            <a:r>
              <a:rPr sz="1250" b="1">
                <a:solidFill>
                  <a:srgbClr val="1A232E"/>
                </a:solidFill>
                <a:latin typeface="Calibri"/>
              </a:rPr>
              <a:t>Strukturierter Output.</a:t>
            </a:r>
            <a:r>
              <a:rPr sz="1250" b="0">
                <a:solidFill>
                  <a:srgbClr val="5B6670"/>
                </a:solidFill>
                <a:latin typeface="Calibri"/>
              </a:rPr>
              <a:t> JSON-Schema (BeanOutputConverter) statt fragilem String-Parsing macht die Antwort robust verarbeitbar.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B9E57"/>
                </a:solidFill>
                <a:latin typeface="Calibri"/>
              </a:rPr>
              <a:t>—  </a:t>
            </a:r>
            <a:r>
              <a:rPr sz="1250" b="1">
                <a:solidFill>
                  <a:srgbClr val="1A232E"/>
                </a:solidFill>
                <a:latin typeface="Calibri"/>
              </a:rPr>
              <a:t>Kosten &amp; Reproduzierbarkeit by design.</a:t>
            </a:r>
            <a:r>
              <a:rPr sz="1250" b="0">
                <a:solidFill>
                  <a:srgbClr val="5B6670"/>
                </a:solidFill>
                <a:latin typeface="Calibri"/>
              </a:rPr>
              <a:t> Analyse 1:1 pro Match persistiert (überschreibbar), Trigger manuell, Mindest-Punktzahl ≥ 10.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>
                <a:solidFill>
                  <a:srgbClr val="1B9E57"/>
                </a:solidFill>
                <a:latin typeface="Calibri"/>
              </a:rPr>
              <a:t>—  </a:t>
            </a:r>
            <a:r>
              <a:rPr sz="1250" b="1">
                <a:solidFill>
                  <a:srgbClr val="1A232E"/>
                </a:solidFill>
                <a:latin typeface="Calibri"/>
              </a:rPr>
              <a:t>Klare Fehlersemantik.</a:t>
            </a:r>
            <a:r>
              <a:rPr sz="1250" b="0">
                <a:solidFill>
                  <a:srgbClr val="5B6670"/>
                </a:solidFill>
                <a:latin typeface="Calibri"/>
              </a:rPr>
              <a:t> 409 / 422 / 502 + persistierter FAILED-Datensatz statt stillem Schlucken von Fehlern.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62828"/>
                </a:solidFill>
                <a:latin typeface="Calibri"/>
              </a:rPr>
              <a:t>⚠  WANN ICH VORSICHTIG WÄRE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20240"/>
            <a:ext cx="5285232" cy="4434840"/>
          </a:xfrm>
          <a:prstGeom prst="roundRect">
            <a:avLst>
              <a:gd name="adj" fmla="val 6000"/>
            </a:avLst>
          </a:prstGeom>
          <a:solidFill>
            <a:srgbClr val="FDF3F3"/>
          </a:solidFill>
          <a:ln w="9525">
            <a:solidFill>
              <a:srgbClr val="F0C6C6"/>
            </a:solidFill>
          </a:ln>
          <a:effectLst/>
          <a:effectLst>
            <a:outerShdw blurRad="50000" dist="25000" dir="5400000" rotWithShape="0">
              <a:srgbClr val="1A232E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8463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62828"/>
                </a:solidFill>
                <a:latin typeface="Calibri"/>
              </a:rPr>
              <a:t>•  </a:t>
            </a:r>
            <a:r>
              <a:rPr sz="1200" b="1">
                <a:solidFill>
                  <a:srgbClr val="1A232E"/>
                </a:solidFill>
                <a:latin typeface="Calibri"/>
              </a:rPr>
              <a:t>Nicht-deterministisch.</a:t>
            </a:r>
            <a:r>
              <a:rPr sz="1200" b="0">
                <a:solidFill>
                  <a:srgbClr val="5B6670"/>
                </a:solidFill>
                <a:latin typeface="Calibri"/>
              </a:rPr>
              <a:t> Gleicher Input ≠ gleicher Output – ungeeignet, wo exakte/regelbasierte Ergebnisse zählen (z. B. Spielstand-Zählung).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62828"/>
                </a:solidFill>
                <a:latin typeface="Calibri"/>
              </a:rPr>
              <a:t>•  </a:t>
            </a:r>
            <a:r>
              <a:rPr sz="1200" b="1">
                <a:solidFill>
                  <a:srgbClr val="1A232E"/>
                </a:solidFill>
                <a:latin typeface="Calibri"/>
              </a:rPr>
              <a:t>Halluzinationen.</a:t>
            </a:r>
            <a:r>
              <a:rPr sz="1200" b="0">
                <a:solidFill>
                  <a:srgbClr val="5B6670"/>
                </a:solidFill>
                <a:latin typeface="Calibri"/>
              </a:rPr>
              <a:t> Aussagen wirken plausibel, können aber falsch sein – kritische Ergebnisse müssen verifizierbar/überprüfbar bleiben.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62828"/>
                </a:solidFill>
                <a:latin typeface="Calibri"/>
              </a:rPr>
              <a:t>•  </a:t>
            </a:r>
            <a:r>
              <a:rPr sz="1200" b="1">
                <a:solidFill>
                  <a:srgbClr val="1A232E"/>
                </a:solidFill>
                <a:latin typeface="Calibri"/>
              </a:rPr>
              <a:t>Datenschutz.</a:t>
            </a:r>
            <a:r>
              <a:rPr sz="1200" b="0">
                <a:solidFill>
                  <a:srgbClr val="5B6670"/>
                </a:solidFill>
                <a:latin typeface="Calibri"/>
              </a:rPr>
              <a:t> Keine personenbezogenen Daten ungefiltert an externe LLM senden – DSGVO, Minderjährige im Spielerkontext.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62828"/>
                </a:solidFill>
                <a:latin typeface="Calibri"/>
              </a:rPr>
              <a:t>•  </a:t>
            </a:r>
            <a:r>
              <a:rPr sz="1200" b="1">
                <a:solidFill>
                  <a:srgbClr val="1A232E"/>
                </a:solidFill>
                <a:latin typeface="Calibri"/>
              </a:rPr>
              <a:t>Kosten &amp; Latenz.</a:t>
            </a:r>
            <a:r>
              <a:rPr sz="1200" b="0">
                <a:solidFill>
                  <a:srgbClr val="5B6670"/>
                </a:solidFill>
                <a:latin typeface="Calibri"/>
              </a:rPr>
              <a:t> Jeder Call kostet und dauert; ohne Trigger-Schutz, Caching &amp; Limits skaliert das schlecht.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62828"/>
                </a:solidFill>
                <a:latin typeface="Calibri"/>
              </a:rPr>
              <a:t>•  </a:t>
            </a:r>
            <a:r>
              <a:rPr sz="1200" b="1">
                <a:solidFill>
                  <a:srgbClr val="1A232E"/>
                </a:solidFill>
                <a:latin typeface="Calibri"/>
              </a:rPr>
              <a:t>Provider-Abhängigkeit.</a:t>
            </a:r>
            <a:r>
              <a:rPr sz="1200" b="0">
                <a:solidFill>
                  <a:srgbClr val="5B6670"/>
                </a:solidFill>
                <a:latin typeface="Calibri"/>
              </a:rPr>
              <a:t> API-Änderungen/Ausfälle, Milestone-Stand (Spring AI 2.0-M*) – Fallback &amp; dünner Adapter nötig.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62828"/>
                </a:solidFill>
                <a:latin typeface="Calibri"/>
              </a:rPr>
              <a:t>•  </a:t>
            </a:r>
            <a:r>
              <a:rPr sz="1200" b="1">
                <a:solidFill>
                  <a:srgbClr val="1A232E"/>
                </a:solidFill>
                <a:latin typeface="Calibri"/>
              </a:rPr>
              <a:t>Mensch entscheidet.</a:t>
            </a:r>
            <a:r>
              <a:rPr sz="1200" b="0">
                <a:solidFill>
                  <a:srgbClr val="5B6670"/>
                </a:solidFill>
                <a:latin typeface="Calibri"/>
              </a:rPr>
              <a:t> KI liefert Empfehlungen, nicht Entscheidungen – als Assistenz, nicht als Autorität einsetzen.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